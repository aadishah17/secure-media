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c07f7ad1a1_2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c07f7ad1a1_2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07f7ad1a1_2_5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c07f7ad1a1_2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07f7ad1a1_2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g3c07f7ad1a1_2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07f7ad1a1_2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c07f7ad1a1_2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07f7ad1a1_2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c07f7ad1a1_2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c07f7ad1a1_2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g3c07f7ad1a1_2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07f7ad1a1_2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g3c07f7ad1a1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07f7ad1a1_2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g3c07f7ad1a1_2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07f7ad1a1_2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g3c07f7ad1a1_2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07f7ad1a1_2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c07f7ad1a1_2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07f7ad1a1_2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c07f7ad1a1_2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c07f7ad1a1_2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g3c07f7ad1a1_2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07f7ad1a1_2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c07f7ad1a1_2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c07f7ad1a1_2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3c07f7ad1a1_2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07f7ad1a1_2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c07f7ad1a1_2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github.com/Aadishah17/secure-media" TargetMode="External"/><Relationship Id="rId5" Type="http://schemas.openxmlformats.org/officeDocument/2006/relationships/hyperlink" Target="https://securemedia-ai-97902534410.us-central1.run.app" TargetMode="External"/><Relationship Id="rId6" Type="http://schemas.openxmlformats.org/officeDocument/2006/relationships/hyperlink" Target="https://securemedia-ai-97902534410.us-central1.run.app/api/health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hyperlink" Target="https://github.com/Aadishah17/secure-media" TargetMode="External"/><Relationship Id="rId5" Type="http://schemas.openxmlformats.org/officeDocument/2006/relationships/hyperlink" Target="https://securemedia-ai-97902534410.us-central1.run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GB" sz="4000" u="none" cap="none" strike="noStrik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b="1" i="0" sz="4000" u="none" cap="none" strike="noStrik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0" name="Google Shape;100;p25"/>
          <p:cNvSpPr txBox="1"/>
          <p:nvPr/>
        </p:nvSpPr>
        <p:spPr>
          <a:xfrm>
            <a:off x="609900" y="1711275"/>
            <a:ext cx="7924200" cy="25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3238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b="0" i="0" lang="en-GB" sz="1500" u="none" cap="none" strike="noStrik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In case of queries, kindly reach out to us at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solutionchallengesupport@hack2skill.com</a:t>
            </a:r>
            <a:endParaRPr b="0" i="0" sz="1500" u="none" cap="none" strike="noStrik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01" name="Google Shape;101;p25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5"/>
          <p:cNvSpPr txBox="1"/>
          <p:nvPr/>
        </p:nvSpPr>
        <p:spPr>
          <a:xfrm>
            <a:off x="65700" y="3897125"/>
            <a:ext cx="9012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500">
                <a:solidFill>
                  <a:srgbClr val="FF0000"/>
                </a:solidFill>
                <a:latin typeface="Google Sans"/>
                <a:ea typeface="Google Sans"/>
                <a:cs typeface="Google Sans"/>
                <a:sym typeface="Google Sans"/>
              </a:rPr>
              <a:t>Note: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 Prototype must include cloud deployment and use at least one Google AI model or service (e.g., Gemini) as part of the solution.</a:t>
            </a:r>
            <a:endParaRPr sz="1500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08" name="Google Shape;108;p26"/>
          <p:cNvPicPr preferRelativeResize="0"/>
          <p:nvPr/>
        </p:nvPicPr>
        <p:blipFill rotWithShape="1">
          <a:blip r:embed="rId3">
            <a:alphaModFix/>
          </a:blip>
          <a:srcRect b="0" l="0" r="0" t="47611"/>
          <a:stretch/>
        </p:blipFill>
        <p:spPr>
          <a:xfrm>
            <a:off x="0" y="2448875"/>
            <a:ext cx="9144000" cy="269462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6"/>
          <p:cNvSpPr txBox="1"/>
          <p:nvPr/>
        </p:nvSpPr>
        <p:spPr>
          <a:xfrm>
            <a:off x="146600" y="2895500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b="1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10" name="Google Shape;110;p26" title="Frame 96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9143997" cy="2759277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TextBox 110"/>
          <p:cNvSpPr txBox="1"/>
          <p:nvPr/>
        </p:nvSpPr>
        <p:spPr>
          <a:xfrm>
            <a:off x="320040" y="2816352"/>
            <a:ext cx="8366760" cy="178308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2124"/>
                </a:solidFill>
                <a:latin typeface="Google Sans"/>
              </a:rPr>
              <a:t>Team Details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Team name: SecureMedia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124"/>
                </a:solidFill>
                <a:latin typeface="Google Sans"/>
              </a:rPr>
              <a:t>Team leader name: Aadishah17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124"/>
                </a:solidFill>
                <a:latin typeface="Google Sans"/>
              </a:rPr>
              <a:t>Problem Statement: creators, journalists, marketplaces, and moderators need a fast way to detect duplicate media and verify ownership before content is reused, sold, or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7"/>
          <p:cNvSpPr txBox="1"/>
          <p:nvPr/>
        </p:nvSpPr>
        <p:spPr>
          <a:xfrm>
            <a:off x="85525" y="806350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Brief about SecureMedia AI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16" name="Google Shape;116;p27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TextBox 116"/>
          <p:cNvSpPr txBox="1"/>
          <p:nvPr/>
        </p:nvSpPr>
        <p:spPr>
          <a:xfrm>
            <a:off x="457200" y="1508760"/>
            <a:ext cx="5212080" cy="228600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202124"/>
                </a:solidFill>
                <a:latin typeface="Google Sans"/>
              </a:rPr>
              <a:t>SecureMedia AI is a lightweight authenticity workflow for image uploads. The product combines perceptual hashing, optional AI similarity, and blockchain ownership status in one review step.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F6368"/>
                </a:solidFill>
                <a:latin typeface="Google Sans"/>
              </a:rPr>
              <a:t>The MVP now runs as a live Google Cloud deployment with a React upload interface, a Flask upload API, duplicate detection, ownership verification fields, and a minimal smart contract path for EVM testnets.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4285F4"/>
                </a:solidFill>
                <a:latin typeface="Google Sans"/>
              </a:rPr>
              <a:t>For Google Solution Challenge alignment, the production path now uses Cloud Run hosting and is ready for Vertex AI multimodal similarity as the Google-native scoring layer.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897880" y="1600200"/>
            <a:ext cx="914400" cy="1005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Trust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Hash + AI + ownership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49440" y="1600200"/>
            <a:ext cx="1188720" cy="100584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Live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Cloud Run deployment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97880" y="2743200"/>
            <a:ext cx="2240280" cy="105156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Next Step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Vertex AI scoring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Managed secrets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Opportunities and Differentiation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22" name="Google Shape;122;p28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Rounded Rectangle 122"/>
          <p:cNvSpPr/>
          <p:nvPr/>
        </p:nvSpPr>
        <p:spPr>
          <a:xfrm>
            <a:off x="411480" y="1554480"/>
            <a:ext cx="2743200" cy="24688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Different from similar ideas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Combines duplicate detection and ownership tracking in one workflow.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Modular services keep the stack lightweight for pilots and hackathons.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Still degrades gracefully when AI or blockchain modules are unavailable.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46120" y="1554480"/>
            <a:ext cx="2743200" cy="2468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How it solves the problem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Flags suspicious duplicate uploads before publication or resale.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Adds ownership context to moderation and review decisions.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Reduces ambiguity for creator-support, newsroom, and marketplace teams.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080760" y="1554480"/>
            <a:ext cx="2651760" cy="24688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USP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One API response with similarity, duplicate state, owner, and verification.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Challenge-ready path to Google AI and Google Cloud.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Simple enough to ship, strong enough to extend.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List of Features Offered by the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28" name="Google Shape;128;p29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Rounded Rectangle 128"/>
          <p:cNvSpPr/>
          <p:nvPr/>
        </p:nvSpPr>
        <p:spPr>
          <a:xfrm>
            <a:off x="411480" y="1554480"/>
            <a:ext cx="2423160" cy="10515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Image upload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Drag-and-drop or picker-based image submission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063240" y="1554480"/>
            <a:ext cx="242316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Live preview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Visual confirmation before analysis begins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715000" y="1554480"/>
            <a:ext cx="2423160" cy="105156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Similarity score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Clear percentage output for fast review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11480" y="2880360"/>
            <a:ext cx="2423160" cy="105156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Duplicate status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Original vs duplicate decision signal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063240" y="2880360"/>
            <a:ext cx="2423160" cy="10515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Ownership status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Owner string and blockchain verification field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715000" y="2880360"/>
            <a:ext cx="2423160" cy="10515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Modular backend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Hashing, AI, and blockchain modules work independently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0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Process Flow Diagram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34" name="Google Shape;134;p30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Rounded Rectangle 134"/>
          <p:cNvSpPr/>
          <p:nvPr/>
        </p:nvSpPr>
        <p:spPr>
          <a:xfrm>
            <a:off x="320040" y="1920240"/>
            <a:ext cx="1508760" cy="10058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1. Upload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User sends an image from the web client.</a:t>
            </a:r>
          </a:p>
        </p:txBody>
      </p:sp>
      <p:sp>
        <p:nvSpPr>
          <p:cNvPr id="136" name="Chevron 135"/>
          <p:cNvSpPr/>
          <p:nvPr/>
        </p:nvSpPr>
        <p:spPr>
          <a:xfrm>
            <a:off x="1847088" y="2240280"/>
            <a:ext cx="164592" cy="329184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2057400" y="1920240"/>
            <a:ext cx="1508760" cy="1005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2. Hash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Perceptual hash is generated through the securemedia-core path.</a:t>
            </a:r>
          </a:p>
        </p:txBody>
      </p:sp>
      <p:sp>
        <p:nvSpPr>
          <p:cNvPr id="138" name="Chevron 137"/>
          <p:cNvSpPr/>
          <p:nvPr/>
        </p:nvSpPr>
        <p:spPr>
          <a:xfrm>
            <a:off x="3584448" y="2240280"/>
            <a:ext cx="164592" cy="329184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3794759" y="1920240"/>
            <a:ext cx="1508760" cy="100584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3. Compare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Optional AI similarity compares against stored embeddings.</a:t>
            </a:r>
          </a:p>
        </p:txBody>
      </p:sp>
      <p:sp>
        <p:nvSpPr>
          <p:cNvPr id="140" name="Chevron 139"/>
          <p:cNvSpPr/>
          <p:nvPr/>
        </p:nvSpPr>
        <p:spPr>
          <a:xfrm>
            <a:off x="5321807" y="2240280"/>
            <a:ext cx="164592" cy="329184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5532119" y="1920240"/>
            <a:ext cx="1508760" cy="100584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4. Verify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Ownership service checks and optionally registers the hash.</a:t>
            </a:r>
          </a:p>
        </p:txBody>
      </p:sp>
      <p:sp>
        <p:nvSpPr>
          <p:cNvPr id="142" name="Chevron 141"/>
          <p:cNvSpPr/>
          <p:nvPr/>
        </p:nvSpPr>
        <p:spPr>
          <a:xfrm>
            <a:off x="7059167" y="2240280"/>
            <a:ext cx="164592" cy="329184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7269479" y="1920240"/>
            <a:ext cx="1508760" cy="10058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5. Return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Frontend receives similarity, duplicate, owner, verification.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0080" y="3337560"/>
            <a:ext cx="7955279" cy="8229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20" b="0" i="0">
                <a:solidFill>
                  <a:srgbClr val="5F6368"/>
                </a:solidFill>
                <a:latin typeface="Google Sans"/>
              </a:rPr>
              <a:t>Primary users: creators, moderators, marketplaces, journalists, and authenticity review teams.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Wireframes / Mock Diagrams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0" name="Google Shape;140;p31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Rounded Rectangle 140"/>
          <p:cNvSpPr/>
          <p:nvPr/>
        </p:nvSpPr>
        <p:spPr>
          <a:xfrm>
            <a:off x="411480" y="1463040"/>
            <a:ext cx="53035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securemedia-ui-i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452" y="1463040"/>
            <a:ext cx="4253575" cy="3063240"/>
          </a:xfrm>
          <a:prstGeom prst="rect">
            <a:avLst/>
          </a:prstGeom>
        </p:spPr>
      </p:pic>
      <p:sp>
        <p:nvSpPr>
          <p:cNvPr id="143" name="Rounded Rectangle 142"/>
          <p:cNvSpPr/>
          <p:nvPr/>
        </p:nvSpPr>
        <p:spPr>
          <a:xfrm>
            <a:off x="5943600" y="1600200"/>
            <a:ext cx="2651760" cy="7772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Upload panel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Single image input, preview area, and analyze trigger.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943600" y="2514600"/>
            <a:ext cx="2651760" cy="8686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Decision cards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Similarity, duplicate status, owner, and blockchain verification stay visible together.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943600" y="3566160"/>
            <a:ext cx="2651760" cy="82296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Review posture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Optimized for quick operator decisions, not consumer browsing.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2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Architecture Diagram of the Proposed Solution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6" name="Google Shape;146;p32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TextBox 146"/>
          <p:cNvSpPr txBox="1"/>
          <p:nvPr/>
        </p:nvSpPr>
        <p:spPr>
          <a:xfrm>
            <a:off x="411480" y="1417320"/>
            <a:ext cx="3931920" cy="3657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2D48"/>
                </a:solidFill>
                <a:latin typeface="Google Sans"/>
              </a:rPr>
              <a:t>Current MVP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09160" y="1417320"/>
            <a:ext cx="3886200" cy="3657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2D48"/>
                </a:solidFill>
                <a:latin typeface="Google Sans"/>
              </a:rPr>
              <a:t>Live Google Cloud Deployment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2920" y="1828800"/>
            <a:ext cx="1463040" cy="6858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React Frontend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Upload UI + results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148840" y="1828800"/>
            <a:ext cx="1554480" cy="6858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Flask API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POST /upload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0" y="2743200"/>
            <a:ext cx="1463040" cy="7315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Hash Service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Perceptual hash + duplicate logic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148840" y="2743200"/>
            <a:ext cx="1554480" cy="7315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AI Similarity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Optional embedding comparison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325880" y="3703320"/>
            <a:ext cx="1645920" cy="7315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/>
            <a:r>
              <a:rPr sz="1200" b="1" i="0">
                <a:solidFill>
                  <a:srgbClr val="1B2D48"/>
                </a:solidFill>
                <a:latin typeface="Google Sans"/>
              </a:rPr>
              <a:t>Ownership Service</a:t>
            </a:r>
          </a:p>
          <a:p>
            <a:pPr>
              <a:spcBef>
                <a:spcPts val="200"/>
              </a:spcBef>
            </a:pPr>
            <a:r>
              <a:rPr sz="950" b="0" i="0">
                <a:solidFill>
                  <a:srgbClr val="202124"/>
                </a:solidFill>
                <a:latin typeface="Google Sans"/>
              </a:rPr>
              <a:t>Web3 + local fallback</a:t>
            </a:r>
          </a:p>
        </p:txBody>
      </p:sp>
      <p:sp>
        <p:nvSpPr>
          <p:cNvPr id="154" name="Chevron 153"/>
          <p:cNvSpPr/>
          <p:nvPr/>
        </p:nvSpPr>
        <p:spPr>
          <a:xfrm>
            <a:off x="1920240" y="2048256"/>
            <a:ext cx="164592" cy="292608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Chevron 154"/>
          <p:cNvSpPr/>
          <p:nvPr/>
        </p:nvSpPr>
        <p:spPr>
          <a:xfrm>
            <a:off x="1920240" y="2962656"/>
            <a:ext cx="164592" cy="292608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Chevron 155"/>
          <p:cNvSpPr/>
          <p:nvPr/>
        </p:nvSpPr>
        <p:spPr>
          <a:xfrm>
            <a:off x="1783080" y="3794760"/>
            <a:ext cx="164592" cy="-438912"/>
          </a:xfrm>
          <a:prstGeom prst="chevron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4754880" y="1828800"/>
            <a:ext cx="1645920" cy="7315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Cloud Run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02124"/>
                </a:solidFill>
                <a:latin typeface="Google Sans"/>
              </a:rPr>
              <a:t>Frontend + backend deployed together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492240" y="1828800"/>
            <a:ext cx="1645920" cy="73152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Cloud Storage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02124"/>
                </a:solidFill>
                <a:latin typeface="Google Sans"/>
              </a:rPr>
              <a:t>Planned evidence retention layer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54880" y="2788920"/>
            <a:ext cx="1645920" cy="73152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Vertex AI Ready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02124"/>
                </a:solidFill>
                <a:latin typeface="Google Sans"/>
              </a:rPr>
              <a:t>Google-native similarity service path already wired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492240" y="2788920"/>
            <a:ext cx="1645920" cy="7315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B2D48"/>
                </a:solidFill>
                <a:latin typeface="Google Sans"/>
              </a:rPr>
              <a:t>Secrets / State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02124"/>
                </a:solidFill>
                <a:latin typeface="Google Sans"/>
              </a:rPr>
              <a:t>Secret Manager and persistence are the next hardening step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800600" y="3794760"/>
            <a:ext cx="3337560" cy="73152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5F6368"/>
                </a:solidFill>
                <a:latin typeface="Google Sans"/>
              </a:rPr>
              <a:t>The current codebase already supports a modular split, which made the Google Cloud deployment a packaging step instead of a rewrite.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3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Technologies to be Used in the Solution</a:t>
            </a:r>
            <a:endParaRPr b="0" i="0" sz="12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2" name="Google Shape;152;p33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TextBox 152"/>
          <p:cNvSpPr txBox="1"/>
          <p:nvPr/>
        </p:nvSpPr>
        <p:spPr>
          <a:xfrm>
            <a:off x="502920" y="1508760"/>
            <a:ext cx="3657600" cy="3657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2D48"/>
                </a:solidFill>
                <a:latin typeface="Google Sans"/>
              </a:rPr>
              <a:t>Current Prototype Stack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754880" y="1508760"/>
            <a:ext cx="3657600" cy="3657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2D48"/>
                </a:solidFill>
                <a:latin typeface="Google Sans"/>
              </a:rPr>
              <a:t>Challenge Deployment Stack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48640" y="1965960"/>
            <a:ext cx="164592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React 19 + Vite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377440" y="1965960"/>
            <a:ext cx="1645920" cy="411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Tailwind CSS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48640" y="2532888"/>
            <a:ext cx="164592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Flask API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377440" y="2532888"/>
            <a:ext cx="1645920" cy="411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Pillow + ImageHash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3099815"/>
            <a:ext cx="164592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Optional Hugging Face CLIP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77440" y="3099815"/>
            <a:ext cx="1645920" cy="411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Solidity + Web3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48640" y="3666744"/>
            <a:ext cx="164592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Sepolia / Polygon testnets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800600" y="1965960"/>
            <a:ext cx="1554480" cy="4114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Cloud Run (live)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537960" y="1965960"/>
            <a:ext cx="1554480" cy="41148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Cloud Storage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800600" y="2532888"/>
            <a:ext cx="1554480" cy="4114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Secret Manager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537960" y="2532888"/>
            <a:ext cx="1554480" cy="41148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Vertex AI multimodal embeddings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800600" y="3099815"/>
            <a:ext cx="1554480" cy="41148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Cloud Build / Artifact Registry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537960" y="3099815"/>
            <a:ext cx="1554480" cy="411480"/>
          </a:xfrm>
          <a:prstGeom prst="roundRect">
            <a:avLst/>
          </a:prstGeom>
          <a:solidFill>
            <a:srgbClr val="FCE8E6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Monitoring + Logging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4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Estimated Implementation Cost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58" name="Google Shape;158;p34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TextBox 158"/>
          <p:cNvSpPr txBox="1"/>
          <p:nvPr/>
        </p:nvSpPr>
        <p:spPr>
          <a:xfrm>
            <a:off x="502920" y="1463040"/>
            <a:ext cx="8138160" cy="36576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Estimated monthly cost for the live pilot on Google Cloud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02920" y="1874519"/>
            <a:ext cx="2103120" cy="411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Component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682240" y="1874519"/>
            <a:ext cx="3977639" cy="411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Assumption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736079" y="1874519"/>
            <a:ext cx="1417320" cy="4114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Monthly cost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02920" y="2331720"/>
            <a:ext cx="21031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Cloud Run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682240" y="2331720"/>
            <a:ext cx="3977639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Live frontend + Flask API service in us-central1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36079" y="2331720"/>
            <a:ext cx="1417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$10-$25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0" y="2788920"/>
            <a:ext cx="21031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Cloud Storage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682240" y="2788920"/>
            <a:ext cx="3977639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Uploaded image retention and evidence objects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736079" y="2788920"/>
            <a:ext cx="1417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$2-$5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02920" y="3246120"/>
            <a:ext cx="21031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Vertex AI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2682240" y="3246120"/>
            <a:ext cx="3977639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Similarity calls when Google scoring is switched on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736079" y="3246120"/>
            <a:ext cx="1417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$20-$40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02920" y="3703320"/>
            <a:ext cx="21031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Observability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2682240" y="3703320"/>
            <a:ext cx="3977639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Basic logs, traces, and monitoring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736079" y="3703320"/>
            <a:ext cx="1417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$0-$10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02920" y="4160520"/>
            <a:ext cx="21031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1" i="0">
                <a:solidFill>
                  <a:srgbClr val="202124"/>
                </a:solidFill>
                <a:latin typeface="Google Sans"/>
              </a:rPr>
              <a:t>Testnet transactions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682240" y="4160520"/>
            <a:ext cx="3977639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l"/>
            <a:r>
              <a:rPr sz="1100" b="0" i="0">
                <a:solidFill>
                  <a:srgbClr val="202124"/>
                </a:solidFill>
                <a:latin typeface="Google Sans"/>
              </a:rPr>
              <a:t>Registration on Sepolia / Amoy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736079" y="4160520"/>
            <a:ext cx="141732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/>
          <a:lstStyle/>
          <a:p>
            <a:pPr algn="ctr"/>
            <a:r>
              <a:rPr sz="1200" b="0" i="0">
                <a:solidFill>
                  <a:srgbClr val="202124"/>
                </a:solidFill>
                <a:latin typeface="Google Sans"/>
              </a:rPr>
              <a:t>Negligible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02920" y="4572000"/>
            <a:ext cx="813816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Google Sans"/>
              </a:rPr>
              <a:t>Estimated pilot total: about $32-$80 per month, with hackathon credits likely reducing early cost.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5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Snapshots of the MVP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64" name="Google Shape;164;p35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Rounded Rectangle 164"/>
          <p:cNvSpPr/>
          <p:nvPr/>
        </p:nvSpPr>
        <p:spPr>
          <a:xfrm>
            <a:off x="411480" y="1463040"/>
            <a:ext cx="4069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6" name="Picture 165" descr="securemedia-ui-i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22" y="1463040"/>
            <a:ext cx="3237795" cy="2331720"/>
          </a:xfrm>
          <a:prstGeom prst="rect">
            <a:avLst/>
          </a:prstGeom>
        </p:spPr>
      </p:pic>
      <p:sp>
        <p:nvSpPr>
          <p:cNvPr id="167" name="Rounded Rectangle 166"/>
          <p:cNvSpPr/>
          <p:nvPr/>
        </p:nvSpPr>
        <p:spPr>
          <a:xfrm>
            <a:off x="4617720" y="1463040"/>
            <a:ext cx="4069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Picture 167" descr="securemedia-ui-file-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0158" y="1463040"/>
            <a:ext cx="2864204" cy="233172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640080" y="1188720"/>
            <a:ext cx="3566160" cy="27432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B2D48"/>
                </a:solidFill>
                <a:latin typeface="Google Sans"/>
              </a:rPr>
              <a:t>Live Cloud Run deployment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00600" y="1188720"/>
            <a:ext cx="3566160" cy="27432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B2D48"/>
                </a:solidFill>
                <a:latin typeface="Google Sans"/>
              </a:rPr>
              <a:t>Local operator flow with file selected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594360" y="3886200"/>
            <a:ext cx="7955279" cy="640080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2D48"/>
                </a:solidFill>
                <a:latin typeface="Google Sans"/>
              </a:rPr>
              <a:t>Production smoke-test response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124"/>
                </a:solidFill>
                <a:latin typeface="Consolas"/>
              </a:rPr>
              <a:t>{ "similarity": 0.0, "duplicate": false, "owner": "Unverified", "blockchain_verified": false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Additional Details / Future Development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70" name="Google Shape;170;p36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Rounded Rectangle 170"/>
          <p:cNvSpPr/>
          <p:nvPr/>
        </p:nvSpPr>
        <p:spPr>
          <a:xfrm>
            <a:off x="502920" y="1600200"/>
            <a:ext cx="3749039" cy="2651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Immediate engineering follow-up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Turn on Vertex AI scoring in production with a managed embedding store.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Replace placeholder chain config with a real contract deployment and funded wallet.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Persist uploads, ownership history, and review trails beyond local JSON fallback.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480560" y="1600200"/>
            <a:ext cx="3749039" cy="26517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Challenge-ready roadmap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Add creator accounts, evidence history, and case management.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Introduce Secret Manager and Cloud-native persistence for production operations.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Extend from image uploads to video frames, watermarking, and newsroom workflows.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7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Project Links</a:t>
            </a:r>
            <a:endParaRPr b="0" i="0" sz="18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76" name="Google Shape;176;p37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Rounded Rectangle 176"/>
          <p:cNvSpPr/>
          <p:nvPr/>
        </p:nvSpPr>
        <p:spPr>
          <a:xfrm>
            <a:off x="502920" y="1600200"/>
            <a:ext cx="8138160" cy="56692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2D48"/>
                </a:solidFill>
                <a:latin typeface="Google Sans"/>
              </a:rPr>
              <a:t>GitHub Public Repository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4285F4"/>
                </a:solidFill>
                <a:latin typeface="Google Sans"/>
                <a:hlinkClick r:id="rId4"/>
              </a:rPr>
              <a:t>https://github.com/Aadishah17/secure-media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02920" y="2313432"/>
            <a:ext cx="8138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2D48"/>
                </a:solidFill>
                <a:latin typeface="Google Sans"/>
              </a:rPr>
              <a:t>Demo Video Link (3 Minutes)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202124"/>
                </a:solidFill>
                <a:latin typeface="Google Sans"/>
              </a:rPr>
              <a:t>To be recorded before submission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502920" y="3026664"/>
            <a:ext cx="8138160" cy="566928"/>
          </a:xfrm>
          <a:prstGeom prst="roundRect">
            <a:avLst/>
          </a:prstGeom>
          <a:solidFill>
            <a:srgbClr val="F8FAFD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2D48"/>
                </a:solidFill>
                <a:latin typeface="Google Sans"/>
              </a:rPr>
              <a:t>Live MVP Link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4285F4"/>
                </a:solidFill>
                <a:latin typeface="Google Sans"/>
                <a:hlinkClick r:id="rId5"/>
              </a:rPr>
              <a:t>https://securemedia-ai-97902534410.us-central1.run.app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0" y="3739896"/>
            <a:ext cx="8138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2D48"/>
                </a:solidFill>
                <a:latin typeface="Google Sans"/>
              </a:rPr>
              <a:t>Health Check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20" b="0" i="0">
                <a:solidFill>
                  <a:srgbClr val="4285F4"/>
                </a:solidFill>
                <a:latin typeface="Google Sans"/>
                <a:hlinkClick r:id="rId6"/>
              </a:rPr>
              <a:t>https://securemedia-ai-97902534410.us-central1.run.app/api/health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38" title="frameeee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89347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TextBox 181"/>
          <p:cNvSpPr txBox="1"/>
          <p:nvPr/>
        </p:nvSpPr>
        <p:spPr>
          <a:xfrm>
            <a:off x="502920" y="868680"/>
            <a:ext cx="3383280" cy="502920"/>
          </a:xfrm>
          <a:prstGeom prst="rect">
            <a:avLst/>
          </a:prstGeom>
          <a:noFill/>
        </p:spPr>
        <p:txBody>
          <a:bodyPr wrap="square" lIns="101600" rIns="101600" tIns="76200" bIns="762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1B2D48"/>
                </a:solidFill>
                <a:latin typeface="Google Sans"/>
              </a:rPr>
              <a:t>Impact and SDG Alignment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691640"/>
            <a:ext cx="3657600" cy="26060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D48"/>
                </a:solidFill>
                <a:latin typeface="Google Sans"/>
              </a:rPr>
              <a:t>Why it matters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Protects original creators from silent reuse and counterfeit claims.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Gives moderators stronger evidence before approving or rejecting media.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124"/>
                </a:solidFill>
                <a:latin typeface="Google Sans"/>
              </a:rPr>
              <a:t>Builds a path toward safer, more trustworthy visual publishing systems.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4617720" y="1691640"/>
            <a:ext cx="3611880" cy="10058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2D48"/>
                </a:solidFill>
                <a:latin typeface="Google Sans"/>
              </a:rPr>
              <a:t>SDG 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02124"/>
                </a:solidFill>
                <a:latin typeface="Google Sans"/>
              </a:rPr>
              <a:t>Industry, Innovation and Infrastructure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617720" y="2788920"/>
            <a:ext cx="3611880" cy="1005840"/>
          </a:xfrm>
          <a:prstGeom prst="roundRect">
            <a:avLst/>
          </a:prstGeom>
          <a:solidFill>
            <a:srgbClr val="FEF7E0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B2D48"/>
                </a:solidFill>
                <a:latin typeface="Google Sans"/>
              </a:rPr>
              <a:t>SDG 16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02124"/>
                </a:solidFill>
                <a:latin typeface="Google Sans"/>
              </a:rPr>
              <a:t>Peace, Justice and Strong Institutions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39" title="38d89ed3-9ded-48f6-b368-c62c46c50b68 1 [Vectorized]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45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Rounded Rectangle 186"/>
          <p:cNvSpPr/>
          <p:nvPr/>
        </p:nvSpPr>
        <p:spPr>
          <a:xfrm>
            <a:off x="1691640" y="1508760"/>
            <a:ext cx="57150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76200" bIns="76200"/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1B2D48"/>
                </a:solidFill>
                <a:latin typeface="Google Sans"/>
              </a:rPr>
              <a:t>SecureMedia AI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202124"/>
                </a:solidFill>
                <a:latin typeface="Google Sans"/>
              </a:rPr>
              <a:t>Protect originality. Prove ownership.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4285F4"/>
                </a:solidFill>
                <a:latin typeface="Google Sans"/>
                <a:hlinkClick r:id="rId4"/>
              </a:rPr>
              <a:t>GitHub: github.com/Aadishah17/secure-media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4285F4"/>
                </a:solidFill>
                <a:latin typeface="Google Sans"/>
                <a:hlinkClick r:id="rId5"/>
              </a:rPr>
              <a:t>Live app: securemedia-ai-97902534410.us-central1.run.app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
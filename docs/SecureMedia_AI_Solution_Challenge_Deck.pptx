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hyperlink" Target="https://github.com/Aadishah17/secure-media" TargetMode="External"/><Relationship Id="rId5" Type="http://schemas.openxmlformats.org/officeDocument/2006/relationships/hyperlink" Target="https://securemedia-ai-97902534410.us-central1.run.app" TargetMode="External"/><Relationship Id="rId6" Type="http://schemas.openxmlformats.org/officeDocument/2006/relationships/hyperlink" Target="https://securemedia-ai-97902534410.us-central1.run.app/api/health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hyperlink" Target="https://github.com/Aadishah17/secure-media" TargetMode="External"/><Relationship Id="rId5" Type="http://schemas.openxmlformats.org/officeDocument/2006/relationships/hyperlink" Target="https://securemedia-ai-97902534410.us-central1.run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/>
          <p:cNvSpPr txBox="1"/>
          <p:nvPr/>
        </p:nvSpPr>
        <p:spPr>
          <a:xfrm>
            <a:off x="320040" y="2816352"/>
            <a:ext cx="8366760" cy="178308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02124"/>
                </a:solidFill>
                <a:latin typeface="Google Sans"/>
              </a:rPr>
              <a:t>Team Details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D48"/>
                </a:solidFill>
                <a:latin typeface="Google Sans"/>
              </a:rPr>
              <a:t>Team name: double trouble 2x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124"/>
                </a:solidFill>
                <a:latin typeface="Google Sans"/>
              </a:rPr>
              <a:t>Team members: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124"/>
                </a:solidFill>
                <a:latin typeface="Google Sans"/>
              </a:rPr>
              <a:t>1) Aadi shah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02124"/>
                </a:solidFill>
                <a:latin typeface="Google Sans"/>
              </a:rPr>
              <a:t>2) nitya singh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124"/>
                </a:solidFill>
                <a:latin typeface="Google Sans"/>
              </a:rPr>
              <a:t>Problem Statement: creators, journalists, marketplaces, and moderators need a fast way to detect duplicate media and verify ownership before content is reused, sold, or published.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>
                <a:solidFill>
                  <a:srgbClr val="202124"/>
                </a:solidFill>
                <a:latin typeface="Google Sans"/>
              </a:rPr>
              <a:t>Brief about SecureMedia AI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TextBox 116"/>
          <p:cNvSpPr txBox="1"/>
          <p:nvPr/>
        </p:nvSpPr>
        <p:spPr>
          <a:xfrm>
            <a:off x="457200" y="1508760"/>
            <a:ext cx="5212080" cy="228600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02124"/>
                </a:solidFill>
                <a:latin typeface="Google Sans"/>
              </a:rPr>
              <a:t>SecureMedia AI is a lightweight authenticity workflow for image uploads. The product combines perceptual hashing, optional AI similarity, and blockchain ownership status in one review step.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F6368"/>
                </a:solidFill>
                <a:latin typeface="Google Sans"/>
              </a:rPr>
              <a:t>The MVP now runs as a live Google Cloud deployment with a React upload interface, a Flask upload API, duplicate detection, ownership verification fields, and a minimal smart contract path for EVM testnets.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285F4"/>
                </a:solidFill>
                <a:latin typeface="Google Sans"/>
              </a:rPr>
              <a:t>For Google Solution Challenge alignment, the production path now uses Cloud Run hosting and is ready for Vertex AI multimodal similarity as the Google-native scoring layer.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897880" y="1600200"/>
            <a:ext cx="914400" cy="10058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D48"/>
                </a:solidFill>
                <a:latin typeface="Google Sans"/>
              </a:rPr>
              <a:t>Trust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Hash + AI + ownership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949440" y="1600200"/>
            <a:ext cx="1188720" cy="10058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D48"/>
                </a:solidFill>
                <a:latin typeface="Google Sans"/>
              </a:rPr>
              <a:t>Live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Cloud Run deployment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897880" y="2743200"/>
            <a:ext cx="2240280" cy="105156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D48"/>
                </a:solidFill>
                <a:latin typeface="Google Sans"/>
              </a:rPr>
              <a:t>Next Step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Vertex AI scoring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Managed secrets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>
                <a:solidFill>
                  <a:srgbClr val="202124"/>
                </a:solidFill>
                <a:latin typeface="Google Sans"/>
              </a:rPr>
              <a:t>Opportunities and Differentiation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Rounded Rectangle 122"/>
          <p:cNvSpPr/>
          <p:nvPr/>
        </p:nvSpPr>
        <p:spPr>
          <a:xfrm>
            <a:off x="411480" y="1554480"/>
            <a:ext cx="2743200" cy="24688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D48"/>
                </a:solidFill>
                <a:latin typeface="Google Sans"/>
              </a:rPr>
              <a:t>Different from similar ideas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Combines duplicate detection and ownership tracking in one workflow.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Modular services keep the stack lightweight for pilots and hackathons.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Still degrades gracefully when AI or blockchain modules are unavailable.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246120" y="1554480"/>
            <a:ext cx="2743200" cy="24688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D48"/>
                </a:solidFill>
                <a:latin typeface="Google Sans"/>
              </a:rPr>
              <a:t>How it solves the problem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Flags suspicious duplicate uploads before publication or resale.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Adds ownership context to moderation and review decisions.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Reduces ambiguity for creator-support, newsroom, and marketplace teams.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080760" y="1554480"/>
            <a:ext cx="2651760" cy="2468880"/>
          </a:xfrm>
          <a:prstGeom prst="roundRect">
            <a:avLst/>
          </a:prstGeom>
          <a:solidFill>
            <a:srgbClr val="FEF7E0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D48"/>
                </a:solidFill>
                <a:latin typeface="Google Sans"/>
              </a:rPr>
              <a:t>USP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One API response with similarity, duplicate state, owner, and verification.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Challenge-ready path to Google AI and Google Cloud.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Simple enough to ship, strong enough to extend.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>
                <a:solidFill>
                  <a:srgbClr val="202124"/>
                </a:solidFill>
                <a:latin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Rounded Rectangle 128"/>
          <p:cNvSpPr/>
          <p:nvPr/>
        </p:nvSpPr>
        <p:spPr>
          <a:xfrm>
            <a:off x="411480" y="1554480"/>
            <a:ext cx="2423160" cy="10515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2D48"/>
                </a:solidFill>
                <a:latin typeface="Google Sans"/>
              </a:rPr>
              <a:t>Image upload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20" b="0" i="0">
                <a:solidFill>
                  <a:srgbClr val="202124"/>
                </a:solidFill>
                <a:latin typeface="Google Sans"/>
              </a:rPr>
              <a:t>Drag-and-drop or picker-based image submission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063240" y="1554480"/>
            <a:ext cx="2423160" cy="10515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2D48"/>
                </a:solidFill>
                <a:latin typeface="Google Sans"/>
              </a:rPr>
              <a:t>Live preview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20" b="0" i="0">
                <a:solidFill>
                  <a:srgbClr val="202124"/>
                </a:solidFill>
                <a:latin typeface="Google Sans"/>
              </a:rPr>
              <a:t>Visual confirmation before analysis begins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715000" y="1554480"/>
            <a:ext cx="2423160" cy="1051560"/>
          </a:xfrm>
          <a:prstGeom prst="roundRect">
            <a:avLst/>
          </a:prstGeom>
          <a:solidFill>
            <a:srgbClr val="FEF7E0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2D48"/>
                </a:solidFill>
                <a:latin typeface="Google Sans"/>
              </a:rPr>
              <a:t>Similarity score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20" b="0" i="0">
                <a:solidFill>
                  <a:srgbClr val="202124"/>
                </a:solidFill>
                <a:latin typeface="Google Sans"/>
              </a:rPr>
              <a:t>Clear percentage output for fast review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11480" y="2880360"/>
            <a:ext cx="2423160" cy="1051560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2D48"/>
                </a:solidFill>
                <a:latin typeface="Google Sans"/>
              </a:rPr>
              <a:t>Duplicate status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20" b="0" i="0">
                <a:solidFill>
                  <a:srgbClr val="202124"/>
                </a:solidFill>
                <a:latin typeface="Google Sans"/>
              </a:rPr>
              <a:t>Original vs duplicate decision signal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3063240" y="2880360"/>
            <a:ext cx="2423160" cy="10515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2D48"/>
                </a:solidFill>
                <a:latin typeface="Google Sans"/>
              </a:rPr>
              <a:t>Ownership status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20" b="0" i="0">
                <a:solidFill>
                  <a:srgbClr val="202124"/>
                </a:solidFill>
                <a:latin typeface="Google Sans"/>
              </a:rPr>
              <a:t>Owner string and blockchain verification field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715000" y="2880360"/>
            <a:ext cx="2423160" cy="10515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2D48"/>
                </a:solidFill>
                <a:latin typeface="Google Sans"/>
              </a:rPr>
              <a:t>Modular backend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20" b="0" i="0">
                <a:solidFill>
                  <a:srgbClr val="202124"/>
                </a:solidFill>
                <a:latin typeface="Google Sans"/>
              </a:rPr>
              <a:t>Hashing, AI, and blockchain modules work independently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>
                <a:solidFill>
                  <a:srgbClr val="202124"/>
                </a:solidFill>
                <a:latin typeface="Google Sans"/>
              </a:rPr>
              <a:t>Process Flow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Rounded Rectangle 134"/>
          <p:cNvSpPr/>
          <p:nvPr/>
        </p:nvSpPr>
        <p:spPr>
          <a:xfrm>
            <a:off x="320040" y="1920240"/>
            <a:ext cx="1508760" cy="10058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200" b="1" i="0">
                <a:solidFill>
                  <a:srgbClr val="1B2D48"/>
                </a:solidFill>
                <a:latin typeface="Google Sans"/>
              </a:rPr>
              <a:t>1. Upload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202124"/>
                </a:solidFill>
                <a:latin typeface="Google Sans"/>
              </a:rPr>
              <a:t>User sends an image from the web client.</a:t>
            </a:r>
          </a:p>
        </p:txBody>
      </p:sp>
      <p:sp>
        <p:nvSpPr>
          <p:cNvPr id="136" name="Chevron 135"/>
          <p:cNvSpPr/>
          <p:nvPr/>
        </p:nvSpPr>
        <p:spPr>
          <a:xfrm>
            <a:off x="1847088" y="2240280"/>
            <a:ext cx="164592" cy="329184"/>
          </a:xfrm>
          <a:prstGeom prst="chevron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2057400" y="1920240"/>
            <a:ext cx="1508760" cy="10058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200" b="1" i="0">
                <a:solidFill>
                  <a:srgbClr val="1B2D48"/>
                </a:solidFill>
                <a:latin typeface="Google Sans"/>
              </a:rPr>
              <a:t>2. Hash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202124"/>
                </a:solidFill>
                <a:latin typeface="Google Sans"/>
              </a:rPr>
              <a:t>Perceptual hash is generated through the securemedia-core path.</a:t>
            </a:r>
          </a:p>
        </p:txBody>
      </p:sp>
      <p:sp>
        <p:nvSpPr>
          <p:cNvPr id="138" name="Chevron 137"/>
          <p:cNvSpPr/>
          <p:nvPr/>
        </p:nvSpPr>
        <p:spPr>
          <a:xfrm>
            <a:off x="3584448" y="2240280"/>
            <a:ext cx="164592" cy="329184"/>
          </a:xfrm>
          <a:prstGeom prst="chevron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3794759" y="1920240"/>
            <a:ext cx="1508760" cy="1005840"/>
          </a:xfrm>
          <a:prstGeom prst="roundRect">
            <a:avLst/>
          </a:prstGeom>
          <a:solidFill>
            <a:srgbClr val="FEF7E0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200" b="1" i="0">
                <a:solidFill>
                  <a:srgbClr val="1B2D48"/>
                </a:solidFill>
                <a:latin typeface="Google Sans"/>
              </a:rPr>
              <a:t>3. Compare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202124"/>
                </a:solidFill>
                <a:latin typeface="Google Sans"/>
              </a:rPr>
              <a:t>Optional AI similarity compares against stored embeddings.</a:t>
            </a:r>
          </a:p>
        </p:txBody>
      </p:sp>
      <p:sp>
        <p:nvSpPr>
          <p:cNvPr id="140" name="Chevron 139"/>
          <p:cNvSpPr/>
          <p:nvPr/>
        </p:nvSpPr>
        <p:spPr>
          <a:xfrm>
            <a:off x="5321807" y="2240280"/>
            <a:ext cx="164592" cy="329184"/>
          </a:xfrm>
          <a:prstGeom prst="chevron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5532119" y="1920240"/>
            <a:ext cx="1508760" cy="1005840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200" b="1" i="0">
                <a:solidFill>
                  <a:srgbClr val="1B2D48"/>
                </a:solidFill>
                <a:latin typeface="Google Sans"/>
              </a:rPr>
              <a:t>4. Verify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202124"/>
                </a:solidFill>
                <a:latin typeface="Google Sans"/>
              </a:rPr>
              <a:t>Ownership service checks and optionally registers the hash.</a:t>
            </a:r>
          </a:p>
        </p:txBody>
      </p:sp>
      <p:sp>
        <p:nvSpPr>
          <p:cNvPr id="142" name="Chevron 141"/>
          <p:cNvSpPr/>
          <p:nvPr/>
        </p:nvSpPr>
        <p:spPr>
          <a:xfrm>
            <a:off x="7059167" y="2240280"/>
            <a:ext cx="164592" cy="329184"/>
          </a:xfrm>
          <a:prstGeom prst="chevron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7269479" y="1920240"/>
            <a:ext cx="1508760" cy="10058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200" b="1" i="0">
                <a:solidFill>
                  <a:srgbClr val="1B2D48"/>
                </a:solidFill>
                <a:latin typeface="Google Sans"/>
              </a:rPr>
              <a:t>5. Return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202124"/>
                </a:solidFill>
                <a:latin typeface="Google Sans"/>
              </a:rPr>
              <a:t>Frontend receives similarity, duplicate, owner, verification.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40080" y="3337560"/>
            <a:ext cx="7955279" cy="8229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20" b="0" i="0">
                <a:solidFill>
                  <a:srgbClr val="5F6368"/>
                </a:solidFill>
                <a:latin typeface="Google Sans"/>
              </a:rPr>
              <a:t>Primary users: creators, moderators, marketplaces, journalists, and authenticity review teams.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>
                <a:solidFill>
                  <a:srgbClr val="202124"/>
                </a:solidFill>
                <a:latin typeface="Google Sans"/>
              </a:rPr>
              <a:t>Wireframes / Mock Diagrams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Rounded Rectangle 140"/>
          <p:cNvSpPr/>
          <p:nvPr/>
        </p:nvSpPr>
        <p:spPr>
          <a:xfrm>
            <a:off x="411480" y="1463040"/>
            <a:ext cx="530352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2" name="Picture 141" descr="securemedia-ui-id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452" y="1463040"/>
            <a:ext cx="4253575" cy="3063240"/>
          </a:xfrm>
          <a:prstGeom prst="rect">
            <a:avLst/>
          </a:prstGeom>
        </p:spPr>
      </p:pic>
      <p:sp>
        <p:nvSpPr>
          <p:cNvPr id="143" name="Rounded Rectangle 142"/>
          <p:cNvSpPr/>
          <p:nvPr/>
        </p:nvSpPr>
        <p:spPr>
          <a:xfrm>
            <a:off x="5943600" y="1600200"/>
            <a:ext cx="2651760" cy="7772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B2D48"/>
                </a:solidFill>
                <a:latin typeface="Google Sans"/>
              </a:rPr>
              <a:t>Upload panel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20" b="0" i="0">
                <a:solidFill>
                  <a:srgbClr val="202124"/>
                </a:solidFill>
                <a:latin typeface="Google Sans"/>
              </a:rPr>
              <a:t>Single image input, preview area, and analyze trigger.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943600" y="2514600"/>
            <a:ext cx="2651760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B2D48"/>
                </a:solidFill>
                <a:latin typeface="Google Sans"/>
              </a:rPr>
              <a:t>Decision cards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20" b="0" i="0">
                <a:solidFill>
                  <a:srgbClr val="202124"/>
                </a:solidFill>
                <a:latin typeface="Google Sans"/>
              </a:rPr>
              <a:t>Similarity, duplicate status, owner, and blockchain verification stay visible together.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943600" y="3566160"/>
            <a:ext cx="2651760" cy="822960"/>
          </a:xfrm>
          <a:prstGeom prst="roundRect">
            <a:avLst/>
          </a:prstGeom>
          <a:solidFill>
            <a:srgbClr val="FEF7E0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B2D48"/>
                </a:solidFill>
                <a:latin typeface="Google Sans"/>
              </a:rPr>
              <a:t>Review posture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20" b="0" i="0">
                <a:solidFill>
                  <a:srgbClr val="202124"/>
                </a:solidFill>
                <a:latin typeface="Google Sans"/>
              </a:rPr>
              <a:t>Optimized for quick operator decisions, not consumer browsing.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>
                <a:solidFill>
                  <a:srgbClr val="202124"/>
                </a:solidFill>
                <a:latin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TextBox 146"/>
          <p:cNvSpPr txBox="1"/>
          <p:nvPr/>
        </p:nvSpPr>
        <p:spPr>
          <a:xfrm>
            <a:off x="411480" y="1417320"/>
            <a:ext cx="3931920" cy="3657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B2D48"/>
                </a:solidFill>
                <a:latin typeface="Google Sans"/>
              </a:rPr>
              <a:t>Current MVP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709160" y="1417320"/>
            <a:ext cx="3886200" cy="3657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B2D48"/>
                </a:solidFill>
                <a:latin typeface="Google Sans"/>
              </a:rPr>
              <a:t>Live Google Cloud Deployment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02920" y="1828800"/>
            <a:ext cx="1463040" cy="6858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200" b="1" i="0">
                <a:solidFill>
                  <a:srgbClr val="1B2D48"/>
                </a:solidFill>
                <a:latin typeface="Google Sans"/>
              </a:rPr>
              <a:t>React Frontend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202124"/>
                </a:solidFill>
                <a:latin typeface="Google Sans"/>
              </a:rPr>
              <a:t>Upload UI + results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2148840" y="1828800"/>
            <a:ext cx="1554480" cy="6858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200" b="1" i="0">
                <a:solidFill>
                  <a:srgbClr val="1B2D48"/>
                </a:solidFill>
                <a:latin typeface="Google Sans"/>
              </a:rPr>
              <a:t>Flask API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202124"/>
                </a:solidFill>
                <a:latin typeface="Google Sans"/>
              </a:rPr>
              <a:t>POST /upload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02920" y="2743200"/>
            <a:ext cx="1463040" cy="73152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200" b="1" i="0">
                <a:solidFill>
                  <a:srgbClr val="1B2D48"/>
                </a:solidFill>
                <a:latin typeface="Google Sans"/>
              </a:rPr>
              <a:t>Hash Service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202124"/>
                </a:solidFill>
                <a:latin typeface="Google Sans"/>
              </a:rPr>
              <a:t>Perceptual hash + duplicate logic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2148840" y="2743200"/>
            <a:ext cx="1554480" cy="73152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200" b="1" i="0">
                <a:solidFill>
                  <a:srgbClr val="1B2D48"/>
                </a:solidFill>
                <a:latin typeface="Google Sans"/>
              </a:rPr>
              <a:t>AI Similarity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202124"/>
                </a:solidFill>
                <a:latin typeface="Google Sans"/>
              </a:rPr>
              <a:t>Optional embedding comparison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325880" y="3703320"/>
            <a:ext cx="1645920" cy="73152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200" b="1" i="0">
                <a:solidFill>
                  <a:srgbClr val="1B2D48"/>
                </a:solidFill>
                <a:latin typeface="Google Sans"/>
              </a:rPr>
              <a:t>Ownership Service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202124"/>
                </a:solidFill>
                <a:latin typeface="Google Sans"/>
              </a:rPr>
              <a:t>Web3 + local fallback</a:t>
            </a:r>
          </a:p>
        </p:txBody>
      </p:sp>
      <p:sp>
        <p:nvSpPr>
          <p:cNvPr id="154" name="Chevron 153"/>
          <p:cNvSpPr/>
          <p:nvPr/>
        </p:nvSpPr>
        <p:spPr>
          <a:xfrm>
            <a:off x="1920240" y="2048256"/>
            <a:ext cx="164592" cy="292608"/>
          </a:xfrm>
          <a:prstGeom prst="chevron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Chevron 154"/>
          <p:cNvSpPr/>
          <p:nvPr/>
        </p:nvSpPr>
        <p:spPr>
          <a:xfrm>
            <a:off x="1920240" y="2962656"/>
            <a:ext cx="164592" cy="292608"/>
          </a:xfrm>
          <a:prstGeom prst="chevron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Chevron 155"/>
          <p:cNvSpPr/>
          <p:nvPr/>
        </p:nvSpPr>
        <p:spPr>
          <a:xfrm>
            <a:off x="1783080" y="3794760"/>
            <a:ext cx="164592" cy="-438912"/>
          </a:xfrm>
          <a:prstGeom prst="chevron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4754880" y="1828800"/>
            <a:ext cx="1645920" cy="7315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B2D48"/>
                </a:solidFill>
                <a:latin typeface="Google Sans"/>
              </a:rPr>
              <a:t>Cloud Run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02124"/>
                </a:solidFill>
                <a:latin typeface="Google Sans"/>
              </a:rPr>
              <a:t>Frontend + backend deployed together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492240" y="1828800"/>
            <a:ext cx="1645920" cy="731520"/>
          </a:xfrm>
          <a:prstGeom prst="roundRect">
            <a:avLst/>
          </a:prstGeom>
          <a:solidFill>
            <a:srgbClr val="FEF7E0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B2D48"/>
                </a:solidFill>
                <a:latin typeface="Google Sans"/>
              </a:rPr>
              <a:t>Cloud Storage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02124"/>
                </a:solidFill>
                <a:latin typeface="Google Sans"/>
              </a:rPr>
              <a:t>Planned evidence retention layer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4754880" y="2788920"/>
            <a:ext cx="1645920" cy="731520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B2D48"/>
                </a:solidFill>
                <a:latin typeface="Google Sans"/>
              </a:rPr>
              <a:t>Vertex AI Ready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02124"/>
                </a:solidFill>
                <a:latin typeface="Google Sans"/>
              </a:rPr>
              <a:t>Google-native similarity service path already wired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492240" y="2788920"/>
            <a:ext cx="1645920" cy="73152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B2D48"/>
                </a:solidFill>
                <a:latin typeface="Google Sans"/>
              </a:rPr>
              <a:t>Secrets / State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02124"/>
                </a:solidFill>
                <a:latin typeface="Google Sans"/>
              </a:rPr>
              <a:t>Secret Manager and persistence are the next hardening step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800600" y="3794760"/>
            <a:ext cx="3337560" cy="73152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20" b="0" i="0">
                <a:solidFill>
                  <a:srgbClr val="5F6368"/>
                </a:solidFill>
                <a:latin typeface="Google Sans"/>
              </a:rPr>
              <a:t>The current codebase already supports a modular split, which made the Google Cloud deployment a packaging step instead of a rewrite.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>
                <a:solidFill>
                  <a:srgbClr val="202124"/>
                </a:solidFill>
                <a:latin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TextBox 152"/>
          <p:cNvSpPr txBox="1"/>
          <p:nvPr/>
        </p:nvSpPr>
        <p:spPr>
          <a:xfrm>
            <a:off x="502920" y="1508760"/>
            <a:ext cx="3657600" cy="3657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B2D48"/>
                </a:solidFill>
                <a:latin typeface="Google Sans"/>
              </a:rPr>
              <a:t>Current Prototype Stack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754880" y="1508760"/>
            <a:ext cx="3657600" cy="3657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B2D48"/>
                </a:solidFill>
                <a:latin typeface="Google Sans"/>
              </a:rPr>
              <a:t>Challenge Deployment Stack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48640" y="1965960"/>
            <a:ext cx="1645920" cy="4114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React 19 + Vite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377440" y="1965960"/>
            <a:ext cx="1645920" cy="4114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Tailwind CSS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548640" y="2532888"/>
            <a:ext cx="1645920" cy="4114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Flask API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2377440" y="2532888"/>
            <a:ext cx="1645920" cy="4114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Pillow + ImageHash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548640" y="3099815"/>
            <a:ext cx="1645920" cy="4114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Optional Hugging Face CLIP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2377440" y="3099815"/>
            <a:ext cx="1645920" cy="4114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Solidity + Web3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48640" y="3666744"/>
            <a:ext cx="1645920" cy="4114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Sepolia / Polygon testnets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800600" y="1965960"/>
            <a:ext cx="1554480" cy="411480"/>
          </a:xfrm>
          <a:prstGeom prst="roundRect">
            <a:avLst/>
          </a:prstGeom>
          <a:solidFill>
            <a:srgbClr val="FEF7E0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Cloud Run (live)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6537960" y="1965960"/>
            <a:ext cx="1554480" cy="411480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Cloud Storage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4800600" y="2532888"/>
            <a:ext cx="1554480" cy="411480"/>
          </a:xfrm>
          <a:prstGeom prst="roundRect">
            <a:avLst/>
          </a:prstGeom>
          <a:solidFill>
            <a:srgbClr val="FEF7E0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Secret Manager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6537960" y="2532888"/>
            <a:ext cx="1554480" cy="411480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Vertex AI multimodal embeddings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800600" y="3099815"/>
            <a:ext cx="1554480" cy="411480"/>
          </a:xfrm>
          <a:prstGeom prst="roundRect">
            <a:avLst/>
          </a:prstGeom>
          <a:solidFill>
            <a:srgbClr val="FEF7E0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Cloud Build / Artifact Registry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537960" y="3099815"/>
            <a:ext cx="1554480" cy="411480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Monitoring + Logging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>
                <a:solidFill>
                  <a:srgbClr val="202124"/>
                </a:solidFill>
                <a:latin typeface="Google Sans"/>
              </a:rPr>
              <a:t>Estimated Implementation Cost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TextBox 158"/>
          <p:cNvSpPr txBox="1"/>
          <p:nvPr/>
        </p:nvSpPr>
        <p:spPr>
          <a:xfrm>
            <a:off x="502920" y="1463040"/>
            <a:ext cx="8138160" cy="3657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2D48"/>
                </a:solidFill>
                <a:latin typeface="Google Sans"/>
              </a:rPr>
              <a:t>Estimated monthly cost for the live pilot on Google Cloud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02920" y="1874519"/>
            <a:ext cx="2103120" cy="41148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l"/>
            <a:r>
              <a:rPr sz="1100" b="1" i="0">
                <a:solidFill>
                  <a:srgbClr val="202124"/>
                </a:solidFill>
                <a:latin typeface="Google Sans"/>
              </a:rPr>
              <a:t>Component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2682240" y="1874519"/>
            <a:ext cx="3977639" cy="41148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l"/>
            <a:r>
              <a:rPr sz="1100" b="0" i="0">
                <a:solidFill>
                  <a:srgbClr val="202124"/>
                </a:solidFill>
                <a:latin typeface="Google Sans"/>
              </a:rPr>
              <a:t>Assumption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736079" y="1874519"/>
            <a:ext cx="1417320" cy="41148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0" i="0">
                <a:solidFill>
                  <a:srgbClr val="202124"/>
                </a:solidFill>
                <a:latin typeface="Google Sans"/>
              </a:rPr>
              <a:t>Monthly cost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02920" y="2331720"/>
            <a:ext cx="21031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l"/>
            <a:r>
              <a:rPr sz="1100" b="1" i="0">
                <a:solidFill>
                  <a:srgbClr val="202124"/>
                </a:solidFill>
                <a:latin typeface="Google Sans"/>
              </a:rPr>
              <a:t>Cloud Run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2682240" y="2331720"/>
            <a:ext cx="3977639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l"/>
            <a:r>
              <a:rPr sz="1100" b="0" i="0">
                <a:solidFill>
                  <a:srgbClr val="202124"/>
                </a:solidFill>
                <a:latin typeface="Google Sans"/>
              </a:rPr>
              <a:t>Live frontend + Flask API service in us-central1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6736079" y="2331720"/>
            <a:ext cx="1417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0" i="0">
                <a:solidFill>
                  <a:srgbClr val="202124"/>
                </a:solidFill>
                <a:latin typeface="Google Sans"/>
              </a:rPr>
              <a:t>$10-$25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502920" y="2788920"/>
            <a:ext cx="21031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l"/>
            <a:r>
              <a:rPr sz="1100" b="1" i="0">
                <a:solidFill>
                  <a:srgbClr val="202124"/>
                </a:solidFill>
                <a:latin typeface="Google Sans"/>
              </a:rPr>
              <a:t>Cloud Storage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2682240" y="2788920"/>
            <a:ext cx="3977639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l"/>
            <a:r>
              <a:rPr sz="1100" b="0" i="0">
                <a:solidFill>
                  <a:srgbClr val="202124"/>
                </a:solidFill>
                <a:latin typeface="Google Sans"/>
              </a:rPr>
              <a:t>Uploaded image retention and evidence objects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736079" y="2788920"/>
            <a:ext cx="1417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0" i="0">
                <a:solidFill>
                  <a:srgbClr val="202124"/>
                </a:solidFill>
                <a:latin typeface="Google Sans"/>
              </a:rPr>
              <a:t>$2-$5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502920" y="3246120"/>
            <a:ext cx="21031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l"/>
            <a:r>
              <a:rPr sz="1100" b="1" i="0">
                <a:solidFill>
                  <a:srgbClr val="202124"/>
                </a:solidFill>
                <a:latin typeface="Google Sans"/>
              </a:rPr>
              <a:t>Vertex AI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2682240" y="3246120"/>
            <a:ext cx="3977639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l"/>
            <a:r>
              <a:rPr sz="1100" b="0" i="0">
                <a:solidFill>
                  <a:srgbClr val="202124"/>
                </a:solidFill>
                <a:latin typeface="Google Sans"/>
              </a:rPr>
              <a:t>Similarity calls when Google scoring is switched on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6736079" y="3246120"/>
            <a:ext cx="1417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0" i="0">
                <a:solidFill>
                  <a:srgbClr val="202124"/>
                </a:solidFill>
                <a:latin typeface="Google Sans"/>
              </a:rPr>
              <a:t>$20-$40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502920" y="3703320"/>
            <a:ext cx="21031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l"/>
            <a:r>
              <a:rPr sz="1100" b="1" i="0">
                <a:solidFill>
                  <a:srgbClr val="202124"/>
                </a:solidFill>
                <a:latin typeface="Google Sans"/>
              </a:rPr>
              <a:t>Observability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2682240" y="3703320"/>
            <a:ext cx="3977639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l"/>
            <a:r>
              <a:rPr sz="1100" b="0" i="0">
                <a:solidFill>
                  <a:srgbClr val="202124"/>
                </a:solidFill>
                <a:latin typeface="Google Sans"/>
              </a:rPr>
              <a:t>Basic logs, traces, and monitoring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6736079" y="3703320"/>
            <a:ext cx="1417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0" i="0">
                <a:solidFill>
                  <a:srgbClr val="202124"/>
                </a:solidFill>
                <a:latin typeface="Google Sans"/>
              </a:rPr>
              <a:t>$0-$10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502920" y="4160520"/>
            <a:ext cx="21031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l"/>
            <a:r>
              <a:rPr sz="1100" b="1" i="0">
                <a:solidFill>
                  <a:srgbClr val="202124"/>
                </a:solidFill>
                <a:latin typeface="Google Sans"/>
              </a:rPr>
              <a:t>Testnet transactions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2682240" y="4160520"/>
            <a:ext cx="3977639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l"/>
            <a:r>
              <a:rPr sz="1100" b="0" i="0">
                <a:solidFill>
                  <a:srgbClr val="202124"/>
                </a:solidFill>
                <a:latin typeface="Google Sans"/>
              </a:rPr>
              <a:t>Registration on Sepolia / Amoy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6736079" y="4160520"/>
            <a:ext cx="1417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1200" b="0" i="0">
                <a:solidFill>
                  <a:srgbClr val="202124"/>
                </a:solidFill>
                <a:latin typeface="Google Sans"/>
              </a:rPr>
              <a:t>Negligible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502920" y="4572000"/>
            <a:ext cx="8138160" cy="4114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285F4"/>
                </a:solidFill>
                <a:latin typeface="Google Sans"/>
              </a:rPr>
              <a:t>Estimated pilot total: about $32-$80 per month, with hackathon credits likely reducing early cost.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>
                <a:solidFill>
                  <a:srgbClr val="202124"/>
                </a:solidFill>
                <a:latin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Rounded Rectangle 164"/>
          <p:cNvSpPr/>
          <p:nvPr/>
        </p:nvSpPr>
        <p:spPr>
          <a:xfrm>
            <a:off x="411480" y="1463040"/>
            <a:ext cx="4069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6" name="Picture 165" descr="securemedia-ui-id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122" y="1463040"/>
            <a:ext cx="3237795" cy="2331720"/>
          </a:xfrm>
          <a:prstGeom prst="rect">
            <a:avLst/>
          </a:prstGeom>
        </p:spPr>
      </p:pic>
      <p:sp>
        <p:nvSpPr>
          <p:cNvPr id="167" name="Rounded Rectangle 166"/>
          <p:cNvSpPr/>
          <p:nvPr/>
        </p:nvSpPr>
        <p:spPr>
          <a:xfrm>
            <a:off x="4617720" y="1463040"/>
            <a:ext cx="4069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8" name="Picture 167" descr="securemedia-ui-file-selec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0158" y="1463040"/>
            <a:ext cx="2864204" cy="2331720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640080" y="1188720"/>
            <a:ext cx="3566160" cy="2743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B2D48"/>
                </a:solidFill>
                <a:latin typeface="Google Sans"/>
              </a:rPr>
              <a:t>Live Cloud Run deployment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800600" y="1188720"/>
            <a:ext cx="3566160" cy="2743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B2D48"/>
                </a:solidFill>
                <a:latin typeface="Google Sans"/>
              </a:rPr>
              <a:t>Local operator flow with file selected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594360" y="3886200"/>
            <a:ext cx="7955279" cy="64008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2D48"/>
                </a:solidFill>
                <a:latin typeface="Google Sans"/>
              </a:rPr>
              <a:t>Production smoke-test response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02124"/>
                </a:solidFill>
                <a:latin typeface="Consolas"/>
              </a:rPr>
              <a:t>{ "similarity": 0.0, "duplicate": false, "owner": "Unverified", "blockchain_verified": false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>
                <a:solidFill>
                  <a:srgbClr val="202124"/>
                </a:solidFill>
                <a:latin typeface="Google Sans"/>
              </a:rPr>
              <a:t>Additional Details / Future Development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Rounded Rectangle 170"/>
          <p:cNvSpPr/>
          <p:nvPr/>
        </p:nvSpPr>
        <p:spPr>
          <a:xfrm>
            <a:off x="502920" y="1600200"/>
            <a:ext cx="3749039" cy="26517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D48"/>
                </a:solidFill>
                <a:latin typeface="Google Sans"/>
              </a:rPr>
              <a:t>Immediate engineering follow-up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Turn on Vertex AI scoring in production with a managed embedding store.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Replace placeholder chain config with a real contract deployment and funded wallet.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Persist uploads, ownership history, and review trails beyond local JSON fallback.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4480560" y="1600200"/>
            <a:ext cx="3749039" cy="26517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D48"/>
                </a:solidFill>
                <a:latin typeface="Google Sans"/>
              </a:rPr>
              <a:t>Challenge-ready roadmap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Add creator accounts, evidence history, and case management.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Introduce Secret Manager and Cloud-native persistence for production operations.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Extend from image uploads to video frames, watermarking, and newsroom workflows.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>
                <a:solidFill>
                  <a:srgbClr val="202124"/>
                </a:solidFill>
                <a:latin typeface="Google Sans"/>
              </a:rPr>
              <a:t>Project Links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Rounded Rectangle 176"/>
          <p:cNvSpPr/>
          <p:nvPr/>
        </p:nvSpPr>
        <p:spPr>
          <a:xfrm>
            <a:off x="502920" y="1600200"/>
            <a:ext cx="8138160" cy="566928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2D48"/>
                </a:solidFill>
                <a:latin typeface="Google Sans"/>
              </a:rPr>
              <a:t>GitHub Public Repository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20" b="0" i="0">
                <a:solidFill>
                  <a:srgbClr val="4285F4"/>
                </a:solidFill>
                <a:latin typeface="Google Sans"/>
                <a:hlinkClick r:id="rId4"/>
              </a:rPr>
              <a:t>https://github.com/Aadishah17/secure-media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502920" y="2313432"/>
            <a:ext cx="81381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2D48"/>
                </a:solidFill>
                <a:latin typeface="Google Sans"/>
              </a:rPr>
              <a:t>Demo Video Link (3 Minutes)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20" b="0" i="0">
                <a:solidFill>
                  <a:srgbClr val="202124"/>
                </a:solidFill>
                <a:latin typeface="Google Sans"/>
              </a:rPr>
              <a:t>To be recorded before submission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502920" y="3026664"/>
            <a:ext cx="8138160" cy="566928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2D48"/>
                </a:solidFill>
                <a:latin typeface="Google Sans"/>
              </a:rPr>
              <a:t>Live MVP Link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20" b="0" i="0">
                <a:solidFill>
                  <a:srgbClr val="4285F4"/>
                </a:solidFill>
                <a:latin typeface="Google Sans"/>
                <a:hlinkClick r:id="rId5"/>
              </a:rPr>
              <a:t>https://securemedia-ai-97902534410.us-central1.run.app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502920" y="3739896"/>
            <a:ext cx="81381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2D48"/>
                </a:solidFill>
                <a:latin typeface="Google Sans"/>
              </a:rPr>
              <a:t>Health Check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20" b="0" i="0">
                <a:solidFill>
                  <a:srgbClr val="4285F4"/>
                </a:solidFill>
                <a:latin typeface="Google Sans"/>
                <a:hlinkClick r:id="rId6"/>
              </a:rPr>
              <a:t>https://securemedia-ai-97902534410.us-central1.run.app/api/health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TextBox 181"/>
          <p:cNvSpPr txBox="1"/>
          <p:nvPr/>
        </p:nvSpPr>
        <p:spPr>
          <a:xfrm>
            <a:off x="502920" y="868680"/>
            <a:ext cx="3383280" cy="50292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B2D48"/>
                </a:solidFill>
                <a:latin typeface="Google Sans"/>
              </a:rPr>
              <a:t>Impact and SDG Alignment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502920" y="1691640"/>
            <a:ext cx="3657600" cy="26060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D48"/>
                </a:solidFill>
                <a:latin typeface="Google Sans"/>
              </a:rPr>
              <a:t>Why it matters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Protects original creators from silent reuse and counterfeit claims.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Gives moderators stronger evidence before approving or rejecting media.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124"/>
                </a:solidFill>
                <a:latin typeface="Google Sans"/>
              </a:rPr>
              <a:t>Builds a path toward safer, more trustworthy visual publishing systems.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4617720" y="1691640"/>
            <a:ext cx="3611880" cy="10058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B2D48"/>
                </a:solidFill>
                <a:latin typeface="Google Sans"/>
              </a:rPr>
              <a:t>SDG 9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02124"/>
                </a:solidFill>
                <a:latin typeface="Google Sans"/>
              </a:rPr>
              <a:t>Industry, Innovation and Infrastructure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4617720" y="2788920"/>
            <a:ext cx="3611880" cy="1005840"/>
          </a:xfrm>
          <a:prstGeom prst="roundRect">
            <a:avLst/>
          </a:prstGeom>
          <a:solidFill>
            <a:srgbClr val="FEF7E0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B2D48"/>
                </a:solidFill>
                <a:latin typeface="Google Sans"/>
              </a:rPr>
              <a:t>SDG 16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02124"/>
                </a:solidFill>
                <a:latin typeface="Google Sans"/>
              </a:rPr>
              <a:t>Peace, Justice and Strong Institutions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Rounded Rectangle 186"/>
          <p:cNvSpPr/>
          <p:nvPr/>
        </p:nvSpPr>
        <p:spPr>
          <a:xfrm>
            <a:off x="1691640" y="1508760"/>
            <a:ext cx="5715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600" b="1" i="0">
                <a:solidFill>
                  <a:srgbClr val="1B2D48"/>
                </a:solidFill>
                <a:latin typeface="Google Sans"/>
              </a:rPr>
              <a:t>SecureMedia AI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202124"/>
                </a:solidFill>
                <a:latin typeface="Google Sans"/>
              </a:rPr>
              <a:t>Protect originality. Prove ownership.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285F4"/>
                </a:solidFill>
                <a:latin typeface="Google Sans"/>
                <a:hlinkClick r:id="rId4"/>
              </a:rPr>
              <a:t>GitHub: github.com/Aadishah17/secure-media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285F4"/>
                </a:solidFill>
                <a:latin typeface="Google Sans"/>
                <a:hlinkClick r:id="rId5"/>
              </a:rPr>
              <a:t>Live app: securemedia-ai-97902534410.us-central1.run.app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